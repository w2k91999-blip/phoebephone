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£ per minute</c:v>
                </c:pt>
              </c:strCache>
            </c:strRef>
          </c:tx>
          <c:spPr>
            <a:solidFill>
              <a:srgbClr val="4F7CFF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Vapi</c:v>
                </c:pt>
                <c:pt idx="1">
                  <c:v>Deepgram</c:v>
                </c:pt>
                <c:pt idx="2">
                  <c:v>GPT-4o-mini</c:v>
                </c:pt>
                <c:pt idx="3">
                  <c:v>ElevenLabs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0.04</c:v>
                </c:pt>
                <c:pt idx="1">
                  <c:v>0.003</c:v>
                </c:pt>
                <c:pt idx="2">
                  <c:v>0.002</c:v>
                </c:pt>
                <c:pt idx="3">
                  <c:v>0.07</c:v>
                </c:pt>
              </c:numCache>
            </c:numRef>
          </c:val>
        </c:ser>
        <c:dLbls>
          <c:numFmt formatCode="£0.000" sourceLinked="0"/>
          <c:txPr>
            <a:bodyPr/>
            <a:lstStyle/>
            <a:p>
              <a:pPr>
                <a:defRPr sz="1050" b="1">
                  <a:solidFill>
                    <a:srgbClr val="FFFFFF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1B2744"/>
            </a:solidFill>
          </a:ln>
        </c:spPr>
        <c:txPr>
          <a:bodyPr/>
          <a:lstStyle/>
          <a:p>
            <a:pPr>
              <a:defRPr sz="1050">
                <a:solidFill>
                  <a:srgbClr val="9FB0CC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6350">
              <a:solidFill>
                <a:srgbClr val="1B2744"/>
              </a:solidFill>
            </a:ln>
          </c:spPr>
        </c:majorGridlines>
        <c:numFmt formatCode="£0.00" sourceLinked="0"/>
        <c:majorTickMark val="none"/>
        <c:minorTickMark val="none"/>
        <c:tickLblPos val="nextTo"/>
        <c:spPr>
          <a:ln>
            <a:solidFill>
              <a:srgbClr val="1B2744"/>
            </a:solidFill>
          </a:ln>
        </c:spPr>
        <c:txPr>
          <a:bodyPr/>
          <a:lstStyle/>
          <a:p>
            <a:pPr>
              <a:defRPr sz="1050">
                <a:solidFill>
                  <a:srgbClr val="9FB0CC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solidFill>
            <a:srgbClr val="FFFFFF"/>
          </a:solidFill>
          <a:latin typeface="Inter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4F7CFF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Basic £39</c:v>
                </c:pt>
                <c:pt idx="1">
                  <c:v>Professional £89</c:v>
                </c:pt>
                <c:pt idx="2">
                  <c:v>Premium £189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39</c:v>
                </c:pt>
                <c:pt idx="1">
                  <c:v>89</c:v>
                </c:pt>
                <c:pt idx="2">
                  <c:v>189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Monthly cost (COGS)</c:v>
                </c:pt>
              </c:strCache>
            </c:strRef>
          </c:tx>
          <c:spPr>
            <a:solidFill>
              <a:srgbClr val="F87171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Basic £39</c:v>
                </c:pt>
                <c:pt idx="1">
                  <c:v>Professional £89</c:v>
                </c:pt>
                <c:pt idx="2">
                  <c:v>Premium £189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14</c:v>
                </c:pt>
                <c:pt idx="1">
                  <c:v>17</c:v>
                </c:pt>
                <c:pt idx="2">
                  <c:v>22</c:v>
                </c:pt>
              </c:numCache>
            </c:numRef>
          </c:val>
        </c:ser>
        <c:dLbls>
          <c:numFmt formatCode="£0" sourceLinked="0"/>
          <c:txPr>
            <a:bodyPr/>
            <a:lstStyle/>
            <a:p>
              <a:pPr>
                <a:defRPr sz="1000" b="1">
                  <a:solidFill>
                    <a:srgbClr val="FFFFFF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8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1B2744"/>
            </a:solidFill>
          </a:ln>
        </c:spPr>
        <c:txPr>
          <a:bodyPr/>
          <a:lstStyle/>
          <a:p>
            <a:pPr>
              <a:defRPr sz="1050">
                <a:solidFill>
                  <a:srgbClr val="9FB0CC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6350">
              <a:solidFill>
                <a:srgbClr val="1B2744"/>
              </a:solidFill>
            </a:ln>
          </c:spPr>
        </c:majorGridlines>
        <c:numFmt formatCode="£0" sourceLinked="0"/>
        <c:majorTickMark val="none"/>
        <c:minorTickMark val="none"/>
        <c:tickLblPos val="nextTo"/>
        <c:spPr>
          <a:ln>
            <a:solidFill>
              <a:srgbClr val="1B2744"/>
            </a:solidFill>
          </a:ln>
        </c:spPr>
        <c:txPr>
          <a:bodyPr/>
          <a:lstStyle/>
          <a:p>
            <a:pPr>
              <a:defRPr sz="1050">
                <a:solidFill>
                  <a:srgbClr val="9FB0CC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solidFill>
            <a:srgbClr val="FFFFFF"/>
          </a:solidFill>
          <a:latin typeface="Inter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Typical usage (min)</c:v>
                </c:pt>
              </c:strCache>
            </c:strRef>
          </c:tx>
          <c:spPr>
            <a:solidFill>
              <a:srgbClr val="34D399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Basic £39</c:v>
                </c:pt>
                <c:pt idx="1">
                  <c:v>Professional £89</c:v>
                </c:pt>
                <c:pt idx="2">
                  <c:v>Premium £189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90</c:v>
                </c:pt>
                <c:pt idx="1">
                  <c:v>90</c:v>
                </c:pt>
                <c:pt idx="2">
                  <c:v>90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Break-even (min)</c:v>
                </c:pt>
              </c:strCache>
            </c:strRef>
          </c:tx>
          <c:spPr>
            <a:solidFill>
              <a:srgbClr val="F87171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Basic £39</c:v>
                </c:pt>
                <c:pt idx="1">
                  <c:v>Professional £89</c:v>
                </c:pt>
                <c:pt idx="2">
                  <c:v>Premium £189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317</c:v>
                </c:pt>
                <c:pt idx="1">
                  <c:v>772</c:v>
                </c:pt>
                <c:pt idx="2">
                  <c:v>1681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000" b="1">
                  <a:solidFill>
                    <a:srgbClr val="FFFFFF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8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none"/>
        <c:minorTickMark val="none"/>
        <c:tickLblPos val="nextTo"/>
        <c:spPr>
          <a:ln>
            <a:solidFill>
              <a:srgbClr val="1B2744"/>
            </a:solidFill>
          </a:ln>
        </c:spPr>
        <c:txPr>
          <a:bodyPr/>
          <a:lstStyle/>
          <a:p>
            <a:pPr>
              <a:defRPr sz="1050">
                <a:solidFill>
                  <a:srgbClr val="9FB0CC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 w="6350">
              <a:solidFill>
                <a:srgbClr val="1B2744"/>
              </a:solidFill>
            </a:ln>
          </c:spPr>
        </c:majorGridlines>
        <c:numFmt formatCode="0" sourceLinked="0"/>
        <c:majorTickMark val="none"/>
        <c:minorTickMark val="none"/>
        <c:tickLblPos val="nextTo"/>
        <c:spPr>
          <a:ln>
            <a:solidFill>
              <a:srgbClr val="1B2744"/>
            </a:solidFill>
          </a:ln>
        </c:spPr>
        <c:txPr>
          <a:bodyPr/>
          <a:lstStyle/>
          <a:p>
            <a:pPr>
              <a:defRPr sz="1050">
                <a:solidFill>
                  <a:srgbClr val="9FB0CC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solidFill>
            <a:srgbClr val="FFFFFF"/>
          </a:solidFill>
          <a:latin typeface="Inter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LTV : CAC ratio</c:v>
                </c:pt>
              </c:strCache>
            </c:strRef>
          </c:tx>
          <c:spPr>
            <a:solidFill>
              <a:srgbClr val="34D399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Basic</c:v>
                </c:pt>
                <c:pt idx="1">
                  <c:v>Professional</c:v>
                </c:pt>
                <c:pt idx="2">
                  <c:v>Premium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</c:v>
                </c:pt>
                <c:pt idx="1">
                  <c:v>30</c:v>
                </c:pt>
                <c:pt idx="2">
                  <c:v>69</c:v>
                </c:pt>
              </c:numCache>
            </c:numRef>
          </c:val>
        </c:ser>
        <c:dLbls>
          <c:numFmt formatCode="0&quot;x&quot;" sourceLinked="0"/>
          <c:txPr>
            <a:bodyPr/>
            <a:lstStyle/>
            <a:p>
              <a:pPr>
                <a:defRPr sz="1300" b="1">
                  <a:solidFill>
                    <a:srgbClr val="FFFFFF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9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1B2744"/>
            </a:solidFill>
          </a:ln>
        </c:spPr>
        <c:txPr>
          <a:bodyPr/>
          <a:lstStyle/>
          <a:p>
            <a:pPr>
              <a:defRPr sz="1050">
                <a:solidFill>
                  <a:srgbClr val="9FB0CC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6350">
              <a:solidFill>
                <a:srgbClr val="1B2744"/>
              </a:solidFill>
            </a:ln>
          </c:spPr>
        </c:majorGridlines>
        <c:numFmt formatCode="0&quot;x&quot;" sourceLinked="0"/>
        <c:majorTickMark val="none"/>
        <c:minorTickMark val="none"/>
        <c:tickLblPos val="nextTo"/>
        <c:spPr>
          <a:ln>
            <a:solidFill>
              <a:srgbClr val="1B2744"/>
            </a:solidFill>
          </a:ln>
        </c:spPr>
        <c:txPr>
          <a:bodyPr/>
          <a:lstStyle/>
          <a:p>
            <a:pPr>
              <a:defRPr sz="1050">
                <a:solidFill>
                  <a:srgbClr val="9FB0CC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solidFill>
            <a:srgbClr val="FFFFFF"/>
          </a:solidFill>
          <a:latin typeface="Inter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MRR (£)</c:v>
                </c:pt>
              </c:strCache>
            </c:strRef>
          </c:tx>
          <c:spPr>
            <a:ln w="34925">
              <a:solidFill>
                <a:srgbClr val="4F7CFF"/>
              </a:solidFill>
            </a:ln>
          </c:spPr>
          <c:marker>
            <c:spPr>
              <a:solidFill>
                <a:srgbClr val="4F7CFF"/>
              </a:solidFill>
              <a:ln>
                <a:noFill/>
              </a:ln>
            </c:spPr>
          </c:marker>
          <c:cat>
            <c:strRef>
              <c:f>Sheet1!$A$2:$A$13</c:f>
              <c:strCache>
                <c:ptCount val="12"/>
                <c:pt idx="0">
                  <c:v>M1</c:v>
                </c:pt>
                <c:pt idx="1">
                  <c:v>M2</c:v>
                </c:pt>
                <c:pt idx="2">
                  <c:v>M3</c:v>
                </c:pt>
                <c:pt idx="3">
                  <c:v>M4</c:v>
                </c:pt>
                <c:pt idx="4">
                  <c:v>M5</c:v>
                </c:pt>
                <c:pt idx="5">
                  <c:v>M6</c:v>
                </c:pt>
                <c:pt idx="6">
                  <c:v>M7</c:v>
                </c:pt>
                <c:pt idx="7">
                  <c:v>M8</c:v>
                </c:pt>
                <c:pt idx="8">
                  <c:v>M9</c:v>
                </c:pt>
                <c:pt idx="9">
                  <c:v>M10</c:v>
                </c:pt>
                <c:pt idx="10">
                  <c:v>M11</c:v>
                </c:pt>
                <c:pt idx="11">
                  <c:v>M12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165</c:v>
                </c:pt>
                <c:pt idx="1">
                  <c:v>330</c:v>
                </c:pt>
                <c:pt idx="2">
                  <c:v>495</c:v>
                </c:pt>
                <c:pt idx="3">
                  <c:v>715</c:v>
                </c:pt>
                <c:pt idx="4">
                  <c:v>935</c:v>
                </c:pt>
                <c:pt idx="5">
                  <c:v>1100</c:v>
                </c:pt>
                <c:pt idx="6">
                  <c:v>1265</c:v>
                </c:pt>
                <c:pt idx="7">
                  <c:v>1430</c:v>
                </c:pt>
                <c:pt idx="8">
                  <c:v>1595</c:v>
                </c:pt>
                <c:pt idx="9">
                  <c:v>1760</c:v>
                </c:pt>
                <c:pt idx="10">
                  <c:v>1925</c:v>
                </c:pt>
                <c:pt idx="11">
                  <c:v>2090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Cumulative profit (£)</c:v>
                </c:pt>
              </c:strCache>
            </c:strRef>
          </c:tx>
          <c:spPr>
            <a:ln w="34925">
              <a:solidFill>
                <a:srgbClr val="FBBF24"/>
              </a:solidFill>
            </a:ln>
          </c:spPr>
          <c:marker>
            <c:spPr>
              <a:solidFill>
                <a:srgbClr val="FBBF24"/>
              </a:solidFill>
              <a:ln>
                <a:noFill/>
              </a:ln>
            </c:spPr>
          </c:marker>
          <c:cat>
            <c:strRef>
              <c:f>Sheet1!$A$2:$A$13</c:f>
              <c:strCache>
                <c:ptCount val="12"/>
                <c:pt idx="0">
                  <c:v>M1</c:v>
                </c:pt>
                <c:pt idx="1">
                  <c:v>M2</c:v>
                </c:pt>
                <c:pt idx="2">
                  <c:v>M3</c:v>
                </c:pt>
                <c:pt idx="3">
                  <c:v>M4</c:v>
                </c:pt>
                <c:pt idx="4">
                  <c:v>M5</c:v>
                </c:pt>
                <c:pt idx="5">
                  <c:v>M6</c:v>
                </c:pt>
                <c:pt idx="6">
                  <c:v>M7</c:v>
                </c:pt>
                <c:pt idx="7">
                  <c:v>M8</c:v>
                </c:pt>
                <c:pt idx="8">
                  <c:v>M9</c:v>
                </c:pt>
                <c:pt idx="9">
                  <c:v>M10</c:v>
                </c:pt>
                <c:pt idx="10">
                  <c:v>M11</c:v>
                </c:pt>
                <c:pt idx="11">
                  <c:v>M12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-110</c:v>
                </c:pt>
                <c:pt idx="1">
                  <c:v>-97</c:v>
                </c:pt>
                <c:pt idx="2">
                  <c:v>39</c:v>
                </c:pt>
                <c:pt idx="3">
                  <c:v>339</c:v>
                </c:pt>
                <c:pt idx="4">
                  <c:v>803</c:v>
                </c:pt>
                <c:pt idx="5">
                  <c:v>1390</c:v>
                </c:pt>
                <c:pt idx="6">
                  <c:v>2100</c:v>
                </c:pt>
                <c:pt idx="7">
                  <c:v>2933</c:v>
                </c:pt>
                <c:pt idx="8">
                  <c:v>3889</c:v>
                </c:pt>
                <c:pt idx="9">
                  <c:v>4968</c:v>
                </c:pt>
                <c:pt idx="10">
                  <c:v>6170</c:v>
                </c:pt>
                <c:pt idx="11">
                  <c:v>7495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1B2744"/>
            </a:solidFill>
          </a:ln>
        </c:spPr>
        <c:txPr>
          <a:bodyPr/>
          <a:lstStyle/>
          <a:p>
            <a:pPr>
              <a:defRPr sz="1050">
                <a:solidFill>
                  <a:srgbClr val="9FB0CC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rgbClr val="1B2744"/>
              </a:solidFill>
            </a:ln>
          </c:spPr>
        </c:majorGridlines>
        <c:numFmt formatCode="£0" sourceLinked="0"/>
        <c:majorTickMark val="none"/>
        <c:minorTickMark val="none"/>
        <c:tickLblPos val="nextTo"/>
        <c:spPr>
          <a:ln>
            <a:solidFill>
              <a:srgbClr val="1B2744"/>
            </a:solidFill>
          </a:ln>
        </c:spPr>
        <c:txPr>
          <a:bodyPr/>
          <a:lstStyle/>
          <a:p>
            <a:pPr>
              <a:defRPr sz="1050">
                <a:solidFill>
                  <a:srgbClr val="9FB0CC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100">
              <a:solidFill>
                <a:srgbClr val="9FB0CC"/>
              </a:solidFill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100">
          <a:solidFill>
            <a:srgbClr val="FFFFFF"/>
          </a:solidFill>
          <a:latin typeface="Inter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Annual recurring revenue (£)</c:v>
                </c:pt>
              </c:strCache>
            </c:strRef>
          </c:tx>
          <c:spPr>
            <a:solidFill>
              <a:srgbClr val="8B5CF6"/>
            </a:solidFill>
            <a:ln>
              <a:noFill/>
            </a:ln>
          </c:spPr>
          <c:dPt>
            <c:idx val="0"/>
            <c:spPr>
              <a:solidFill>
                <a:srgbClr val="4F7CFF"/>
              </a:solidFill>
            </c:spPr>
          </c:dPt>
          <c:dPt>
            <c:idx val="1"/>
            <c:spPr>
              <a:solidFill>
                <a:srgbClr val="8B5CF6"/>
              </a:solidFill>
            </c:spPr>
          </c:dPt>
          <c:dPt>
            <c:idx val="2"/>
            <c:spPr>
              <a:solidFill>
                <a:srgbClr val="FBBF24"/>
              </a:solidFill>
            </c:spPr>
          </c:dPt>
          <c:dPt>
            <c:idx val="3"/>
            <c:spPr>
              <a:solidFill>
                <a:srgbClr val="34D399"/>
              </a:solidFill>
            </c:spPr>
          </c:dPt>
          <c:cat>
            <c:strRef>
              <c:f>Sheet1!$A$2:$A$5</c:f>
              <c:strCache>
                <c:ptCount val="4"/>
                <c:pt idx="0">
                  <c:v>0.5%  (196)</c:v>
                </c:pt>
                <c:pt idx="1">
                  <c:v>1%  (392)</c:v>
                </c:pt>
                <c:pt idx="2">
                  <c:v>3%  (1,176)</c:v>
                </c:pt>
                <c:pt idx="3">
                  <c:v>5%  (1,960)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129360</c:v>
                </c:pt>
                <c:pt idx="1">
                  <c:v>258720</c:v>
                </c:pt>
                <c:pt idx="2">
                  <c:v>776160</c:v>
                </c:pt>
                <c:pt idx="3">
                  <c:v>1293600</c:v>
                </c:pt>
              </c:numCache>
            </c:numRef>
          </c:val>
        </c:ser>
        <c:dLbls>
          <c:numFmt formatCode="£#,##0,&quot;k&quot;" sourceLinked="0"/>
          <c:txPr>
            <a:bodyPr/>
            <a:lstStyle/>
            <a:p>
              <a:pPr>
                <a:defRPr sz="1100" b="1">
                  <a:solidFill>
                    <a:srgbClr val="FFFFFF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1B2744"/>
            </a:solidFill>
          </a:ln>
        </c:spPr>
        <c:txPr>
          <a:bodyPr/>
          <a:lstStyle/>
          <a:p>
            <a:pPr>
              <a:defRPr sz="1050">
                <a:solidFill>
                  <a:srgbClr val="9FB0CC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6350">
              <a:solidFill>
                <a:srgbClr val="1B2744"/>
              </a:solidFill>
            </a:ln>
          </c:spPr>
        </c:majorGridlines>
        <c:numFmt formatCode="£#,##0,&quot;k&quot;" sourceLinked="0"/>
        <c:majorTickMark val="none"/>
        <c:minorTickMark val="none"/>
        <c:tickLblPos val="nextTo"/>
        <c:spPr>
          <a:ln>
            <a:solidFill>
              <a:srgbClr val="1B2744"/>
            </a:solidFill>
          </a:ln>
        </c:spPr>
        <c:txPr>
          <a:bodyPr/>
          <a:lstStyle/>
          <a:p>
            <a:pPr>
              <a:defRPr sz="1050">
                <a:solidFill>
                  <a:srgbClr val="9FB0CC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solidFill>
            <a:srgbClr val="FFFFFF"/>
          </a:solidFill>
          <a:latin typeface="Inter"/>
        </a:defRPr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ARR (£)</c:v>
                </c:pt>
              </c:strCache>
            </c:strRef>
          </c:tx>
          <c:spPr>
            <a:solidFill>
              <a:srgbClr val="4F7CFF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Conservative</c:v>
                </c:pt>
                <c:pt idx="1">
                  <c:v>Base</c:v>
                </c:pt>
                <c:pt idx="2">
                  <c:v>Optimistic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52800</c:v>
                </c:pt>
                <c:pt idx="1">
                  <c:v>85800</c:v>
                </c:pt>
                <c:pt idx="2">
                  <c:v>145200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Net profit (£)</c:v>
                </c:pt>
              </c:strCache>
            </c:strRef>
          </c:tx>
          <c:spPr>
            <a:solidFill>
              <a:srgbClr val="34D399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Conservative</c:v>
                </c:pt>
                <c:pt idx="1">
                  <c:v>Base</c:v>
                </c:pt>
                <c:pt idx="2">
                  <c:v>Optimistic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35000</c:v>
                </c:pt>
                <c:pt idx="1">
                  <c:v>58000</c:v>
                </c:pt>
                <c:pt idx="2">
                  <c:v>100000</c:v>
                </c:pt>
              </c:numCache>
            </c:numRef>
          </c:val>
        </c:ser>
        <c:dLbls>
          <c:numFmt formatCode="£#,##0,&quot;k&quot;" sourceLinked="0"/>
          <c:txPr>
            <a:bodyPr/>
            <a:lstStyle/>
            <a:p>
              <a:pPr>
                <a:defRPr sz="1000" b="1">
                  <a:solidFill>
                    <a:srgbClr val="FFFFFF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1B2744"/>
            </a:solidFill>
          </a:ln>
        </c:spPr>
        <c:txPr>
          <a:bodyPr/>
          <a:lstStyle/>
          <a:p>
            <a:pPr>
              <a:defRPr sz="1050">
                <a:solidFill>
                  <a:srgbClr val="9FB0CC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6350">
              <a:solidFill>
                <a:srgbClr val="1B2744"/>
              </a:solidFill>
            </a:ln>
          </c:spPr>
        </c:majorGridlines>
        <c:numFmt formatCode="£#,##0,&quot;k&quot;" sourceLinked="0"/>
        <c:majorTickMark val="none"/>
        <c:minorTickMark val="none"/>
        <c:tickLblPos val="nextTo"/>
        <c:spPr>
          <a:ln>
            <a:solidFill>
              <a:srgbClr val="1B2744"/>
            </a:solidFill>
          </a:ln>
        </c:spPr>
        <c:txPr>
          <a:bodyPr/>
          <a:lstStyle/>
          <a:p>
            <a:pPr>
              <a:defRPr sz="1050">
                <a:solidFill>
                  <a:srgbClr val="9FB0CC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solidFill>
            <a:srgbClr val="FFFFFF"/>
          </a:solidFill>
          <a:latin typeface="Inter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gradFill>
            <a:gsLst>
              <a:gs pos="0">
                <a:srgbClr val="0B1020"/>
              </a:gs>
              <a:gs pos="100000">
                <a:srgbClr val="1E1B4B"/>
              </a:gs>
            </a:gsLst>
            <a:lin ang="3600000" scaled="1"/>
          </a:gradFill>
          <a:xfrm>
            <a:off x="0" y="0"/>
            <a:ext cx="12191695" cy="6858000"/>
          </a:xfrm>
          <a:prstGeom prst="rect">
            <a:avLst/>
          </a:prstGeom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gradFill>
            <a:gsLst>
              <a:gs pos="0">
                <a:srgbClr val="4F7CFF"/>
              </a:gs>
              <a:gs pos="100000">
                <a:srgbClr val="8B5CF6"/>
              </a:gs>
            </a:gsLst>
            <a:lin ang="1800000" scaled="1"/>
          </a:gradFill>
          <a:xfrm>
            <a:off x="8046720" y="-1463040"/>
            <a:ext cx="5029200" cy="5029200"/>
          </a:xfrm>
          <a:prstGeom prst="roundRect">
            <a:avLst>
              <a:gd name="adj" fmla="val 50000"/>
            </a:avLst>
          </a:prstGeom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949440" y="-2011680"/>
            <a:ext cx="6858000" cy="6858000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777240"/>
            <a:ext cx="3200400" cy="10515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_tra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978408"/>
            <a:ext cx="2377854" cy="6400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2960" y="2331720"/>
            <a:ext cx="8686800" cy="15544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4600" b="1">
                <a:solidFill>
                  <a:srgbClr val="FFFFFF"/>
                </a:solidFill>
                <a:latin typeface="Plus Jakarta Sans"/>
              </a:rPr>
              <a:t>Business Plan &amp;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4600" b="1">
                <a:solidFill>
                  <a:srgbClr val="4F7CFF"/>
                </a:solidFill>
                <a:latin typeface="Plus Jakarta Sans"/>
              </a:rPr>
              <a:t>Financial 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3977639"/>
            <a:ext cx="8778240" cy="9144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600" b="0">
                <a:solidFill>
                  <a:srgbClr val="9FB0CC"/>
                </a:solidFill>
                <a:latin typeface="Inter"/>
              </a:rPr>
              <a:t>The AI receptionist for UK small businesses — unit economics, 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600" b="0">
                <a:solidFill>
                  <a:srgbClr val="9FB0CC"/>
                </a:solidFill>
                <a:latin typeface="Inter"/>
              </a:rPr>
              <a:t>pricing margins, customer acquisition and the 12-month model.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5166360"/>
            <a:ext cx="2468880" cy="841248"/>
          </a:xfrm>
          <a:prstGeom prst="roundRect">
            <a:avLst/>
          </a:prstGeom>
          <a:solidFill>
            <a:srgbClr val="1B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5248656"/>
            <a:ext cx="219456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100" b="1">
                <a:solidFill>
                  <a:srgbClr val="FBBF24"/>
                </a:solidFill>
                <a:latin typeface="Plus Jakarta Sans"/>
              </a:rPr>
              <a:t>64–88%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5650992"/>
            <a:ext cx="219456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0">
                <a:solidFill>
                  <a:srgbClr val="9FB0CC"/>
                </a:solidFill>
                <a:latin typeface="Inter"/>
              </a:rPr>
              <a:t>gross margins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38144" y="5166360"/>
            <a:ext cx="2468880" cy="841248"/>
          </a:xfrm>
          <a:prstGeom prst="roundRect">
            <a:avLst/>
          </a:prstGeom>
          <a:solidFill>
            <a:srgbClr val="1B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21024" y="5248656"/>
            <a:ext cx="219456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100" b="1">
                <a:solidFill>
                  <a:srgbClr val="FBBF24"/>
                </a:solidFill>
                <a:latin typeface="Plus Jakarta Sans"/>
              </a:rPr>
              <a:t>17x+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21024" y="5650992"/>
            <a:ext cx="219456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0">
                <a:solidFill>
                  <a:srgbClr val="9FB0CC"/>
                </a:solidFill>
                <a:latin typeface="Inter"/>
              </a:rPr>
              <a:t>LTV : CAC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53327" y="5166360"/>
            <a:ext cx="2468880" cy="841248"/>
          </a:xfrm>
          <a:prstGeom prst="roundRect">
            <a:avLst/>
          </a:prstGeom>
          <a:solidFill>
            <a:srgbClr val="1B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36207" y="5248656"/>
            <a:ext cx="219456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100" b="1">
                <a:solidFill>
                  <a:srgbClr val="FBBF24"/>
                </a:solidFill>
                <a:latin typeface="Plus Jakarta Sans"/>
              </a:rPr>
              <a:t>Month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36207" y="5650992"/>
            <a:ext cx="219456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0">
                <a:solidFill>
                  <a:srgbClr val="9FB0CC"/>
                </a:solidFill>
                <a:latin typeface="Inter"/>
              </a:rPr>
              <a:t>break-even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68511" y="5166360"/>
            <a:ext cx="2468880" cy="841248"/>
          </a:xfrm>
          <a:prstGeom prst="roundRect">
            <a:avLst/>
          </a:prstGeom>
          <a:solidFill>
            <a:srgbClr val="1B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51391" y="5248656"/>
            <a:ext cx="219456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100" b="1">
                <a:solidFill>
                  <a:srgbClr val="FBBF24"/>
                </a:solidFill>
                <a:latin typeface="Plus Jakarta Sans"/>
              </a:rPr>
              <a:t>£25k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51391" y="5650992"/>
            <a:ext cx="219456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0">
                <a:solidFill>
                  <a:srgbClr val="9FB0CC"/>
                </a:solidFill>
                <a:latin typeface="Inter"/>
              </a:rPr>
              <a:t>Yr-1 ARR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6263640"/>
            <a:ext cx="73152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0">
                <a:solidFill>
                  <a:srgbClr val="6B7A99"/>
                </a:solidFill>
                <a:latin typeface="Inter"/>
              </a:rPr>
              <a:t>Prepared June 2026  ·  Confidential — internal planning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109728" cy="566928"/>
          </a:xfrm>
          <a:prstGeom prst="rect">
            <a:avLst/>
          </a:prstGeom>
          <a:solidFill>
            <a:srgbClr val="4F7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100584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1">
                <a:solidFill>
                  <a:srgbClr val="4F7CFF"/>
                </a:solidFill>
                <a:latin typeface="Plus Jakarta Sans"/>
              </a:rPr>
              <a:t>THE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786384"/>
            <a:ext cx="10607040" cy="7315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700" b="1">
                <a:solidFill>
                  <a:srgbClr val="FFFFFF"/>
                </a:solidFill>
                <a:latin typeface="Plus Jakarta Sans"/>
              </a:rPr>
              <a:t>What Phone Phoebe 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566928"/>
            <a:ext cx="64008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6B7A99"/>
                </a:solidFill>
                <a:latin typeface="Plus Jakarta Sans"/>
              </a:rPr>
              <a:t>02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1335024"/>
            <a:ext cx="10634472" cy="18288"/>
          </a:xfrm>
          <a:prstGeom prst="rect">
            <a:avLst/>
          </a:prstGeom>
          <a:solidFill>
            <a:srgbClr val="1B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554480"/>
            <a:ext cx="6400800" cy="31089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FFFFFF"/>
                </a:solidFill>
                <a:latin typeface="Inter"/>
              </a:rPr>
              <a:t>A white-label </a:t>
            </a:r>
            <a:r>
              <a:rPr sz="1500" b="1">
                <a:solidFill>
                  <a:srgbClr val="4F7CFF"/>
                </a:solidFill>
                <a:latin typeface="Inter"/>
              </a:rPr>
              <a:t>AI receptionist SaaS</a:t>
            </a:r>
            <a:r>
              <a:rPr sz="1500" b="0">
                <a:solidFill>
                  <a:srgbClr val="FFFFFF"/>
                </a:solidFill>
                <a:latin typeface="Inter"/>
              </a:rPr>
              <a:t> for UK local service businesses.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600" b="0">
                <a:solidFill>
                  <a:srgbClr val="9FB0CC"/>
                </a:solidFill>
                <a:latin typeface="Inter"/>
              </a:rPr>
              <a:t/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9FB0CC"/>
                </a:solidFill>
                <a:latin typeface="Inter"/>
              </a:rPr>
              <a:t>Onboarding is one JSON config + one command. Each client gets a Vapi voice agent that </a:t>
            </a:r>
            <a:r>
              <a:rPr sz="1350" b="1">
                <a:solidFill>
                  <a:srgbClr val="FFFFFF"/>
                </a:solidFill>
                <a:latin typeface="Inter"/>
              </a:rPr>
              <a:t>answers the phone, sounds human, and books the job</a:t>
            </a:r>
            <a:r>
              <a:rPr sz="1350" b="0">
                <a:solidFill>
                  <a:srgbClr val="9FB0CC"/>
                </a:solidFill>
                <a:latin typeface="Inter"/>
              </a:rPr>
              <a:t> straight into their calendar.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600" b="0">
                <a:solidFill>
                  <a:srgbClr val="9FB0CC"/>
                </a:solidFill>
                <a:latin typeface="Inter"/>
              </a:rPr>
              <a:t/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9FB0CC"/>
                </a:solidFill>
                <a:latin typeface="Inter"/>
              </a:rPr>
              <a:t>You pay the API stack. You charge a monthly subscription. </a:t>
            </a:r>
            <a:r>
              <a:rPr sz="1350" b="1">
                <a:solidFill>
                  <a:srgbClr val="FBBF24"/>
                </a:solidFill>
                <a:latin typeface="Inter"/>
              </a:rPr>
              <a:t>The business is the margin between the two.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1325880"/>
            <a:ext cx="384048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4F7CFF"/>
                </a:solidFill>
                <a:latin typeface="Plus Jakarta Sans"/>
              </a:rPr>
              <a:t>THE STACK PER CLIENT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0" y="1645920"/>
            <a:ext cx="3749039" cy="566928"/>
          </a:xfrm>
          <a:prstGeom prst="roundRect">
            <a:avLst/>
          </a:prstGeom>
          <a:solidFill>
            <a:srgbClr val="1B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0" y="1645920"/>
            <a:ext cx="82296" cy="566928"/>
          </a:xfrm>
          <a:prstGeom prst="rect">
            <a:avLst/>
          </a:prstGeom>
          <a:solidFill>
            <a:srgbClr val="4F7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73568" y="1719072"/>
            <a:ext cx="237744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Plus Jakarta Sans"/>
              </a:rPr>
              <a:t>Vapi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73568" y="1956816"/>
            <a:ext cx="338328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50" b="0">
                <a:solidFill>
                  <a:srgbClr val="9FB0CC"/>
                </a:solidFill>
                <a:latin typeface="Inter"/>
              </a:rPr>
              <a:t>voice orchestration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0" y="2322576"/>
            <a:ext cx="3749039" cy="566928"/>
          </a:xfrm>
          <a:prstGeom prst="roundRect">
            <a:avLst/>
          </a:prstGeom>
          <a:solidFill>
            <a:srgbClr val="1B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0" y="2322576"/>
            <a:ext cx="82296" cy="566928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73568" y="2395728"/>
            <a:ext cx="237744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Plus Jakarta Sans"/>
              </a:rPr>
              <a:t>Deepgram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73568" y="2633472"/>
            <a:ext cx="338328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50" b="0">
                <a:solidFill>
                  <a:srgbClr val="9FB0CC"/>
                </a:solidFill>
                <a:latin typeface="Inter"/>
              </a:rPr>
              <a:t>speech-to-text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0" y="2999232"/>
            <a:ext cx="3749039" cy="566928"/>
          </a:xfrm>
          <a:prstGeom prst="roundRect">
            <a:avLst/>
          </a:prstGeom>
          <a:solidFill>
            <a:srgbClr val="1B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772400" y="2999232"/>
            <a:ext cx="82296" cy="566928"/>
          </a:xfrm>
          <a:prstGeom prst="rect">
            <a:avLst/>
          </a:prstGeom>
          <a:solidFill>
            <a:srgbClr val="4F7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73568" y="3072384"/>
            <a:ext cx="237744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Plus Jakarta Sans"/>
              </a:rPr>
              <a:t>GPT-4o-mini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73568" y="3310128"/>
            <a:ext cx="338328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50" b="0">
                <a:solidFill>
                  <a:srgbClr val="9FB0CC"/>
                </a:solidFill>
                <a:latin typeface="Inter"/>
              </a:rPr>
              <a:t>the AI brain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0" y="3675888"/>
            <a:ext cx="3749039" cy="566928"/>
          </a:xfrm>
          <a:prstGeom prst="roundRect">
            <a:avLst/>
          </a:prstGeom>
          <a:solidFill>
            <a:srgbClr val="1B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0" y="3675888"/>
            <a:ext cx="82296" cy="566928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73568" y="3749040"/>
            <a:ext cx="237744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Plus Jakarta Sans"/>
              </a:rPr>
              <a:t>ElevenLabs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73568" y="3986784"/>
            <a:ext cx="338328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50" b="0">
                <a:solidFill>
                  <a:srgbClr val="9FB0CC"/>
                </a:solidFill>
                <a:latin typeface="Inter"/>
              </a:rPr>
              <a:t>natural voice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772400" y="4352544"/>
            <a:ext cx="3749039" cy="566928"/>
          </a:xfrm>
          <a:prstGeom prst="roundRect">
            <a:avLst/>
          </a:prstGeom>
          <a:solidFill>
            <a:srgbClr val="1B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772400" y="4352544"/>
            <a:ext cx="82296" cy="566928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73568" y="4425696"/>
            <a:ext cx="237744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Plus Jakarta Sans"/>
              </a:rPr>
              <a:t>Cal.com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73568" y="4663440"/>
            <a:ext cx="338328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50" b="0">
                <a:solidFill>
                  <a:srgbClr val="9FB0CC"/>
                </a:solidFill>
                <a:latin typeface="Inter"/>
              </a:rPr>
              <a:t>booking (free)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4892040"/>
            <a:ext cx="6400800" cy="13716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1">
                <a:solidFill>
                  <a:srgbClr val="FFFFFF"/>
                </a:solidFill>
                <a:latin typeface="Inter"/>
              </a:rPr>
              <a:t>Reusable engine: </a:t>
            </a:r>
            <a:r>
              <a:rPr sz="1250" b="0">
                <a:solidFill>
                  <a:srgbClr val="9FB0CC"/>
                </a:solidFill>
                <a:latin typeface="Inter"/>
              </a:rPr>
              <a:t>the same codebase serves every client. Marginal cost of the Nth customer is near-zero in engineering — only the per-call API spend scales.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0" y="6355080"/>
            <a:ext cx="201168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Plus Jakarta Sans"/>
              </a:rPr>
              <a:t>📞 Phone </a:t>
            </a:r>
            <a:r>
              <a:rPr sz="1200" b="1">
                <a:solidFill>
                  <a:srgbClr val="4F7CFF"/>
                </a:solidFill>
                <a:latin typeface="Plus Jakarta Sans"/>
              </a:rPr>
              <a:t>Phoebe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109728" cy="566928"/>
          </a:xfrm>
          <a:prstGeom prst="rect">
            <a:avLst/>
          </a:prstGeom>
          <a:solidFill>
            <a:srgbClr val="4F7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100584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1">
                <a:solidFill>
                  <a:srgbClr val="4F7CFF"/>
                </a:solidFill>
                <a:latin typeface="Plus Jakarta Sans"/>
              </a:rPr>
              <a:t>UNIT ECONOMICS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786384"/>
            <a:ext cx="10607040" cy="7315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700" b="1">
                <a:solidFill>
                  <a:srgbClr val="FFFFFF"/>
                </a:solidFill>
                <a:latin typeface="Plus Jakarta Sans"/>
              </a:rPr>
              <a:t>What one client costs you per month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566928"/>
            <a:ext cx="64008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6B7A99"/>
                </a:solidFill>
                <a:latin typeface="Plus Jakarta Sans"/>
              </a:rPr>
              <a:t>03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1335024"/>
            <a:ext cx="10634472" cy="18288"/>
          </a:xfrm>
          <a:prstGeom prst="rect">
            <a:avLst/>
          </a:prstGeom>
          <a:solidFill>
            <a:srgbClr val="1B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777240" y="1600200"/>
          <a:ext cx="6035040" cy="40233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77240" y="5715000"/>
            <a:ext cx="603504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9FB0CC"/>
                </a:solidFill>
                <a:latin typeface="Inter"/>
              </a:rPr>
              <a:t>Variable cost ≈ </a:t>
            </a:r>
            <a:r>
              <a:rPr sz="1200" b="1">
                <a:solidFill>
                  <a:srgbClr val="FBBF24"/>
                </a:solidFill>
                <a:latin typeface="Inter"/>
              </a:rPr>
              <a:t>£0.11 / minute</a:t>
            </a:r>
            <a:r>
              <a:rPr sz="1200" b="0">
                <a:solidFill>
                  <a:srgbClr val="9FB0CC"/>
                </a:solidFill>
                <a:latin typeface="Inter"/>
              </a:rPr>
              <a:t>  (≈ $0.14). A typical 3-min booking call ≈ 33p.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78040" y="1463040"/>
            <a:ext cx="438912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4F7CFF"/>
                </a:solidFill>
                <a:latin typeface="Plus Jakarta Sans"/>
              </a:rPr>
              <a:t>FIXED COST PER CLIENT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78040" y="1828800"/>
            <a:ext cx="4297680" cy="457200"/>
          </a:xfrm>
          <a:prstGeom prst="roundRect">
            <a:avLst/>
          </a:prstGeom>
          <a:solidFill>
            <a:srgbClr val="1B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60920" y="1901952"/>
            <a:ext cx="292608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FFFFFF"/>
                </a:solidFill>
                <a:latin typeface="Inter"/>
              </a:rPr>
              <a:t>Vapi phone number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1901952"/>
            <a:ext cx="128016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34D399"/>
                </a:solidFill>
                <a:latin typeface="Plus Jakarta Sans"/>
              </a:rPr>
              <a:t>£1.60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78040" y="2359152"/>
            <a:ext cx="4297680" cy="457200"/>
          </a:xfrm>
          <a:prstGeom prst="roundRect">
            <a:avLst/>
          </a:prstGeom>
          <a:solidFill>
            <a:srgbClr val="1B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60920" y="2432304"/>
            <a:ext cx="292608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FFFFFF"/>
                </a:solidFill>
                <a:latin typeface="Inter"/>
              </a:rPr>
              <a:t>Hosting (shared)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0" y="2432304"/>
            <a:ext cx="128016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34D399"/>
                </a:solidFill>
                <a:latin typeface="Plus Jakarta Sans"/>
              </a:rPr>
              <a:t>£1.50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78040" y="2889504"/>
            <a:ext cx="4297680" cy="457200"/>
          </a:xfrm>
          <a:prstGeom prst="roundRect">
            <a:avLst/>
          </a:prstGeom>
          <a:solidFill>
            <a:srgbClr val="1B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60920" y="2962656"/>
            <a:ext cx="292608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FFFFFF"/>
                </a:solidFill>
                <a:latin typeface="Inter"/>
              </a:rPr>
              <a:t>ElevenLabs allocation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0" y="2962656"/>
            <a:ext cx="128016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34D399"/>
                </a:solidFill>
                <a:latin typeface="Plus Jakarta Sans"/>
              </a:rPr>
              <a:t>£1.50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78040" y="3419856"/>
            <a:ext cx="4297680" cy="457200"/>
          </a:xfrm>
          <a:prstGeom prst="roundRect">
            <a:avLst/>
          </a:prstGeom>
          <a:solidFill>
            <a:srgbClr val="1B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60920" y="3493008"/>
            <a:ext cx="292608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FFFFFF"/>
                </a:solidFill>
                <a:latin typeface="Inter"/>
              </a:rPr>
              <a:t>Cal.com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0" y="3493008"/>
            <a:ext cx="128016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34D399"/>
                </a:solidFill>
                <a:latin typeface="Plus Jakarta Sans"/>
              </a:rPr>
              <a:t>£0.00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178040" y="3995928"/>
            <a:ext cx="4297680" cy="502920"/>
          </a:xfrm>
          <a:prstGeom prst="roundRect">
            <a:avLst/>
          </a:prstGeom>
          <a:solidFill>
            <a:srgbClr val="162038"/>
          </a:solidFill>
          <a:ln w="12700">
            <a:solidFill>
              <a:srgbClr val="4F7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60920" y="4078224"/>
            <a:ext cx="292608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1">
                <a:solidFill>
                  <a:srgbClr val="FFFFFF"/>
                </a:solidFill>
                <a:latin typeface="Inter"/>
              </a:rPr>
              <a:t>Fixed subtotal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0" y="4078224"/>
            <a:ext cx="128016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50" b="1">
                <a:solidFill>
                  <a:srgbClr val="FBBF24"/>
                </a:solidFill>
                <a:latin typeface="Plus Jakarta Sans"/>
              </a:rPr>
              <a:t>≈ £4.60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8040" y="4727448"/>
            <a:ext cx="4389120" cy="12801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Inter"/>
              </a:rPr>
              <a:t>Typical driving instructor: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9FB0CC"/>
                </a:solidFill>
                <a:latin typeface="Inter"/>
              </a:rPr>
              <a:t>~30 missed calls × 3 min = 90 min.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9FB0CC"/>
                </a:solidFill>
                <a:latin typeface="Inter"/>
              </a:rPr>
              <a:t>All-in COGS ≈ </a:t>
            </a:r>
            <a:r>
              <a:rPr sz="1200" b="1">
                <a:solidFill>
                  <a:srgbClr val="34D399"/>
                </a:solidFill>
                <a:latin typeface="Inter"/>
              </a:rPr>
              <a:t>£14 / month.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0" y="6355080"/>
            <a:ext cx="201168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Plus Jakarta Sans"/>
              </a:rPr>
              <a:t>📞 Phone </a:t>
            </a:r>
            <a:r>
              <a:rPr sz="1200" b="1">
                <a:solidFill>
                  <a:srgbClr val="4F7CFF"/>
                </a:solidFill>
                <a:latin typeface="Plus Jakarta Sans"/>
              </a:rPr>
              <a:t>Phoebe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109728" cy="566928"/>
          </a:xfrm>
          <a:prstGeom prst="rect">
            <a:avLst/>
          </a:prstGeom>
          <a:solidFill>
            <a:srgbClr val="4F7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100584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1">
                <a:solidFill>
                  <a:srgbClr val="4F7CFF"/>
                </a:solidFill>
                <a:latin typeface="Plus Jakarta Sans"/>
              </a:rPr>
              <a:t>PRICING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786384"/>
            <a:ext cx="10607040" cy="7315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700" b="1">
                <a:solidFill>
                  <a:srgbClr val="FFFFFF"/>
                </a:solidFill>
                <a:latin typeface="Plus Jakarta Sans"/>
              </a:rPr>
              <a:t>Tiers vs margin (at typical volume)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566928"/>
            <a:ext cx="64008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6B7A99"/>
                </a:solidFill>
                <a:latin typeface="Plus Jakarta Sans"/>
              </a:rPr>
              <a:t>04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1335024"/>
            <a:ext cx="10634472" cy="18288"/>
          </a:xfrm>
          <a:prstGeom prst="rect">
            <a:avLst/>
          </a:prstGeom>
          <a:solidFill>
            <a:srgbClr val="1B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777240" y="1600200"/>
          <a:ext cx="6949440" cy="42976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8001000" y="1463040"/>
            <a:ext cx="36576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4F7CFF"/>
                </a:solidFill>
                <a:latin typeface="Plus Jakarta Sans"/>
              </a:rPr>
              <a:t>GROSS MARGIN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01000" y="1874519"/>
            <a:ext cx="3520440" cy="960120"/>
          </a:xfrm>
          <a:prstGeom prst="roundRect">
            <a:avLst/>
          </a:prstGeom>
          <a:solidFill>
            <a:srgbClr val="1B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01000" y="1874519"/>
            <a:ext cx="91440" cy="960120"/>
          </a:xfrm>
          <a:prstGeom prst="rect">
            <a:avLst/>
          </a:prstGeom>
          <a:solidFill>
            <a:srgbClr val="4F7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83879" y="1965960"/>
            <a:ext cx="219456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1">
                <a:solidFill>
                  <a:srgbClr val="FFFFFF"/>
                </a:solidFill>
                <a:latin typeface="Inter"/>
              </a:rPr>
              <a:t>Basic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79" y="2286000"/>
            <a:ext cx="219456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>
                <a:solidFill>
                  <a:srgbClr val="FFFFFF"/>
                </a:solidFill>
                <a:latin typeface="Plus Jakarta Sans"/>
              </a:rPr>
              <a:t>£25/mo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2720" y="2148839"/>
            <a:ext cx="109728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2200" b="1">
                <a:solidFill>
                  <a:srgbClr val="4F7CFF"/>
                </a:solidFill>
                <a:latin typeface="Plus Jakarta Sans"/>
              </a:rPr>
              <a:t>64%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01000" y="2953511"/>
            <a:ext cx="3520440" cy="960120"/>
          </a:xfrm>
          <a:prstGeom prst="roundRect">
            <a:avLst/>
          </a:prstGeom>
          <a:solidFill>
            <a:srgbClr val="1B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01000" y="2953511"/>
            <a:ext cx="91440" cy="96012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83879" y="3044951"/>
            <a:ext cx="219456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1">
                <a:solidFill>
                  <a:srgbClr val="FFFFFF"/>
                </a:solidFill>
                <a:latin typeface="Inter"/>
              </a:rPr>
              <a:t>Professional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3879" y="3364991"/>
            <a:ext cx="219456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>
                <a:solidFill>
                  <a:srgbClr val="FFFFFF"/>
                </a:solidFill>
                <a:latin typeface="Plus Jakarta Sans"/>
              </a:rPr>
              <a:t>£72/mo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32720" y="3227831"/>
            <a:ext cx="109728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2200" b="1">
                <a:solidFill>
                  <a:srgbClr val="8B5CF6"/>
                </a:solidFill>
                <a:latin typeface="Plus Jakarta Sans"/>
              </a:rPr>
              <a:t>81%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01000" y="4032503"/>
            <a:ext cx="3520440" cy="960120"/>
          </a:xfrm>
          <a:prstGeom prst="roundRect">
            <a:avLst/>
          </a:prstGeom>
          <a:solidFill>
            <a:srgbClr val="1B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1000" y="4032503"/>
            <a:ext cx="91440" cy="96012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83879" y="4123943"/>
            <a:ext cx="219456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1">
                <a:solidFill>
                  <a:srgbClr val="FFFFFF"/>
                </a:solidFill>
                <a:latin typeface="Inter"/>
              </a:rPr>
              <a:t>Premium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83879" y="4443983"/>
            <a:ext cx="219456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>
                <a:solidFill>
                  <a:srgbClr val="FFFFFF"/>
                </a:solidFill>
                <a:latin typeface="Plus Jakarta Sans"/>
              </a:rPr>
              <a:t>£167/mo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32720" y="4306823"/>
            <a:ext cx="109728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2200" b="1">
                <a:solidFill>
                  <a:srgbClr val="FBBF24"/>
                </a:solidFill>
                <a:latin typeface="Plus Jakarta Sans"/>
              </a:rPr>
              <a:t>88%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0" y="6355080"/>
            <a:ext cx="201168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Plus Jakarta Sans"/>
              </a:rPr>
              <a:t>📞 Phone </a:t>
            </a:r>
            <a:r>
              <a:rPr sz="1200" b="1">
                <a:solidFill>
                  <a:srgbClr val="4F7CFF"/>
                </a:solidFill>
                <a:latin typeface="Plus Jakarta Sans"/>
              </a:rPr>
              <a:t>Phoebe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109728" cy="566928"/>
          </a:xfrm>
          <a:prstGeom prst="rect">
            <a:avLst/>
          </a:prstGeom>
          <a:solidFill>
            <a:srgbClr val="4F7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100584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1">
                <a:solidFill>
                  <a:srgbClr val="4F7CFF"/>
                </a:solidFill>
                <a:latin typeface="Plus Jakarta Sans"/>
              </a:rPr>
              <a:t>KEY RISK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786384"/>
            <a:ext cx="10607040" cy="7315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700" b="1">
                <a:solidFill>
                  <a:srgbClr val="FFFFFF"/>
                </a:solidFill>
                <a:latin typeface="Plus Jakarta Sans"/>
              </a:rPr>
              <a:t>The “unlimited minutes” exposure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566928"/>
            <a:ext cx="64008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6B7A99"/>
                </a:solidFill>
                <a:latin typeface="Plus Jakarta Sans"/>
              </a:rPr>
              <a:t>05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1335024"/>
            <a:ext cx="10634472" cy="18288"/>
          </a:xfrm>
          <a:prstGeom prst="rect">
            <a:avLst/>
          </a:prstGeom>
          <a:solidFill>
            <a:srgbClr val="1B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777240" y="1600200"/>
          <a:ext cx="6858000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909560" y="1600200"/>
            <a:ext cx="3657600" cy="2286000"/>
          </a:xfrm>
          <a:prstGeom prst="roundRect">
            <a:avLst/>
          </a:prstGeom>
          <a:solidFill>
            <a:srgbClr val="1B2744"/>
          </a:solidFill>
          <a:ln w="15875"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92440" y="1737360"/>
            <a:ext cx="3383280" cy="21031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50" b="1">
                <a:solidFill>
                  <a:srgbClr val="F87171"/>
                </a:solidFill>
                <a:latin typeface="Plus Jakarta Sans"/>
              </a:rPr>
              <a:t>THE GAP IS YOUR SAFETY MARGIN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500" b="0">
                <a:solidFill>
                  <a:srgbClr val="9FB0CC"/>
                </a:solidFill>
                <a:latin typeface="Inter"/>
              </a:rPr>
              <a:t/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50" b="0">
                <a:solidFill>
                  <a:srgbClr val="9FB0CC"/>
                </a:solidFill>
                <a:latin typeface="Inter"/>
              </a:rPr>
              <a:t>A typical client uses ~90 min — far inside break-even. The threat is the </a:t>
            </a:r>
            <a:r>
              <a:rPr sz="1150" b="1">
                <a:solidFill>
                  <a:srgbClr val="FFFFFF"/>
                </a:solidFill>
                <a:latin typeface="Inter"/>
              </a:rPr>
              <a:t>outlier</a:t>
            </a:r>
            <a:r>
              <a:rPr sz="1150" b="0">
                <a:solidFill>
                  <a:srgbClr val="9FB0CC"/>
                </a:solidFill>
                <a:latin typeface="Inter"/>
              </a:rPr>
              <a:t>: a salon or clinic at 150+ calls, or Phoebe left on 24/7.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09560" y="4069080"/>
            <a:ext cx="3657600" cy="1737360"/>
          </a:xfrm>
          <a:prstGeom prst="roundRect">
            <a:avLst/>
          </a:prstGeom>
          <a:solidFill>
            <a:srgbClr val="162038"/>
          </a:solidFill>
          <a:ln w="1587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92440" y="4206240"/>
            <a:ext cx="3383280" cy="15544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50" b="1">
                <a:solidFill>
                  <a:srgbClr val="34D399"/>
                </a:solidFill>
                <a:latin typeface="Plus Jakarta Sans"/>
              </a:rPr>
              <a:t>THE FIX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500" b="0">
                <a:solidFill>
                  <a:srgbClr val="9FB0CC"/>
                </a:solidFill>
                <a:latin typeface="Inter"/>
              </a:rPr>
              <a:t/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50" b="1">
                <a:solidFill>
                  <a:srgbClr val="FFFFFF"/>
                </a:solidFill>
                <a:latin typeface="Inter"/>
              </a:rPr>
              <a:t>Fair-use caps in T&amp;Cs — 500 / 2,000 / 5,000 min. </a:t>
            </a:r>
            <a:r>
              <a:rPr sz="1150" b="0">
                <a:solidFill>
                  <a:srgbClr val="9FB0CC"/>
                </a:solidFill>
                <a:latin typeface="Inter"/>
              </a:rPr>
              <a:t>Still ‘unlimited’ for 99% of users; protected against the 1%.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6355080"/>
            <a:ext cx="201168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Plus Jakarta Sans"/>
              </a:rPr>
              <a:t>📞 Phone </a:t>
            </a:r>
            <a:r>
              <a:rPr sz="1200" b="1">
                <a:solidFill>
                  <a:srgbClr val="4F7CFF"/>
                </a:solidFill>
                <a:latin typeface="Plus Jakarta Sans"/>
              </a:rPr>
              <a:t>Phoebe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109728" cy="566928"/>
          </a:xfrm>
          <a:prstGeom prst="rect">
            <a:avLst/>
          </a:prstGeom>
          <a:solidFill>
            <a:srgbClr val="4F7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100584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1">
                <a:solidFill>
                  <a:srgbClr val="4F7CFF"/>
                </a:solidFill>
                <a:latin typeface="Plus Jakarta Sans"/>
              </a:rPr>
              <a:t>CUSTOMER ACQUISITION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786384"/>
            <a:ext cx="10607040" cy="7315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700" b="1">
                <a:solidFill>
                  <a:srgbClr val="FFFFFF"/>
                </a:solidFill>
                <a:latin typeface="Plus Jakarta Sans"/>
              </a:rPr>
              <a:t>What a customer costs vs what they're worth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566928"/>
            <a:ext cx="64008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6B7A99"/>
                </a:solidFill>
                <a:latin typeface="Plus Jakarta Sans"/>
              </a:rPr>
              <a:t>06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1335024"/>
            <a:ext cx="10634472" cy="18288"/>
          </a:xfrm>
          <a:prstGeom prst="rect">
            <a:avLst/>
          </a:prstGeom>
          <a:solidFill>
            <a:srgbClr val="1B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463040"/>
            <a:ext cx="45720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4F7CFF"/>
                </a:solidFill>
                <a:latin typeface="Plus Jakarta Sans"/>
              </a:rPr>
              <a:t>THE FUNNEL  ·  £200/MO ADS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874519"/>
            <a:ext cx="4937760" cy="960120"/>
          </a:xfrm>
          <a:prstGeom prst="roundRect">
            <a:avLst/>
          </a:prstGeom>
          <a:solidFill>
            <a:srgbClr val="1B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74519"/>
            <a:ext cx="91440" cy="960120"/>
          </a:xfrm>
          <a:prstGeom prst="rect">
            <a:avLst/>
          </a:prstGeom>
          <a:solidFill>
            <a:srgbClr val="4F7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84248"/>
            <a:ext cx="1371600" cy="7315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Plus Jakarta Sans"/>
              </a:rPr>
              <a:t>40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80" y="2057400"/>
            <a:ext cx="310896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Inter"/>
              </a:rPr>
              <a:t>leads / month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2423160"/>
            <a:ext cx="310896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0">
                <a:solidFill>
                  <a:srgbClr val="9FB0CC"/>
                </a:solidFill>
                <a:latin typeface="Inter"/>
              </a:rPr>
              <a:t>£5 cost per lead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2971800"/>
            <a:ext cx="4937760" cy="960120"/>
          </a:xfrm>
          <a:prstGeom prst="roundRect">
            <a:avLst/>
          </a:prstGeom>
          <a:solidFill>
            <a:srgbClr val="1B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2971800"/>
            <a:ext cx="91440" cy="96012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3081528"/>
            <a:ext cx="1371600" cy="7315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Plus Jakarta Sans"/>
              </a:rPr>
              <a:t>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68880" y="3154680"/>
            <a:ext cx="310896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Inter"/>
              </a:rPr>
              <a:t>trial starts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68880" y="3520440"/>
            <a:ext cx="310896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0">
                <a:solidFill>
                  <a:srgbClr val="9FB0CC"/>
                </a:solidFill>
                <a:latin typeface="Inter"/>
              </a:rPr>
              <a:t>25% of leads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4069080"/>
            <a:ext cx="4937760" cy="960120"/>
          </a:xfrm>
          <a:prstGeom prst="roundRect">
            <a:avLst/>
          </a:prstGeom>
          <a:solidFill>
            <a:srgbClr val="1B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77240" y="4069080"/>
            <a:ext cx="91440" cy="96012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4178808"/>
            <a:ext cx="1371600" cy="7315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Plus Jakarta Sans"/>
              </a:rPr>
              <a:t>2–3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68880" y="4251960"/>
            <a:ext cx="310896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Inter"/>
              </a:rPr>
              <a:t>paying clients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68880" y="4617720"/>
            <a:ext cx="310896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0">
                <a:solidFill>
                  <a:srgbClr val="9FB0CC"/>
                </a:solidFill>
                <a:latin typeface="Inter"/>
              </a:rPr>
              <a:t>25% trial → paid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257800"/>
            <a:ext cx="512064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>
                <a:solidFill>
                  <a:srgbClr val="9FB0CC"/>
                </a:solidFill>
                <a:latin typeface="Inter"/>
              </a:rPr>
              <a:t>Blended CAC ≈ </a:t>
            </a:r>
            <a:r>
              <a:rPr sz="1300" b="1">
                <a:solidFill>
                  <a:srgbClr val="FBBF24"/>
                </a:solidFill>
                <a:latin typeface="Plus Jakarta Sans"/>
              </a:rPr>
              <a:t>£80</a:t>
            </a:r>
            <a:r>
              <a:rPr sz="1300" b="0">
                <a:solidFill>
                  <a:srgbClr val="9FB0CC"/>
                </a:solidFill>
                <a:latin typeface="Inter"/>
              </a:rPr>
              <a:t> per paying customer.</a:t>
            </a:r>
          </a:p>
        </p:txBody>
      </p:sp>
      <p:graphicFrame>
        <p:nvGraphicFramePr>
          <p:cNvPr id="25" name="Chart 24"/>
          <p:cNvGraphicFramePr>
            <a:graphicFrameLocks noGrp="1"/>
          </p:cNvGraphicFramePr>
          <p:nvPr/>
        </p:nvGraphicFramePr>
        <p:xfrm>
          <a:off x="6126480" y="1600200"/>
          <a:ext cx="5486400" cy="39319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6" name="TextBox 25"/>
          <p:cNvSpPr txBox="1"/>
          <p:nvPr/>
        </p:nvSpPr>
        <p:spPr>
          <a:xfrm>
            <a:off x="6126480" y="5577840"/>
            <a:ext cx="548640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9FB0CC"/>
                </a:solidFill>
                <a:latin typeface="Inter"/>
              </a:rPr>
              <a:t>Healthy SaaS is 3x. </a:t>
            </a:r>
            <a:r>
              <a:rPr sz="1200" b="1">
                <a:solidFill>
                  <a:srgbClr val="34D399"/>
                </a:solidFill>
                <a:latin typeface="Inter"/>
              </a:rPr>
              <a:t>Phoebe clears it 3–23×</a:t>
            </a:r>
            <a:r>
              <a:rPr sz="1200" b="0">
                <a:solidFill>
                  <a:srgbClr val="9FB0CC"/>
                </a:solidFill>
                <a:latin typeface="Inter"/>
              </a:rPr>
              <a:t>  (33-mo lifetime @ 3% churn).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0" y="6355080"/>
            <a:ext cx="201168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Plus Jakarta Sans"/>
              </a:rPr>
              <a:t>📞 Phone </a:t>
            </a:r>
            <a:r>
              <a:rPr sz="1200" b="1">
                <a:solidFill>
                  <a:srgbClr val="4F7CFF"/>
                </a:solidFill>
                <a:latin typeface="Plus Jakarta Sans"/>
              </a:rPr>
              <a:t>Phoebe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109728" cy="566928"/>
          </a:xfrm>
          <a:prstGeom prst="rect">
            <a:avLst/>
          </a:prstGeom>
          <a:solidFill>
            <a:srgbClr val="4F7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100584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1">
                <a:solidFill>
                  <a:srgbClr val="4F7CFF"/>
                </a:solidFill>
                <a:latin typeface="Plus Jakarta Sans"/>
              </a:rPr>
              <a:t>THE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786384"/>
            <a:ext cx="10607040" cy="7315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700" b="1">
                <a:solidFill>
                  <a:srgbClr val="FFFFFF"/>
                </a:solidFill>
                <a:latin typeface="Plus Jakarta Sans"/>
              </a:rPr>
              <a:t>12-month base 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566928"/>
            <a:ext cx="64008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6B7A99"/>
                </a:solidFill>
                <a:latin typeface="Plus Jakarta Sans"/>
              </a:rPr>
              <a:t>07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1335024"/>
            <a:ext cx="10634472" cy="18288"/>
          </a:xfrm>
          <a:prstGeom prst="rect">
            <a:avLst/>
          </a:prstGeom>
          <a:solidFill>
            <a:srgbClr val="1B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777240" y="1600200"/>
          <a:ext cx="768096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8686800" y="1600200"/>
            <a:ext cx="2834640" cy="1234440"/>
          </a:xfrm>
          <a:prstGeom prst="roundRect">
            <a:avLst/>
          </a:prstGeom>
          <a:solidFill>
            <a:srgbClr val="1B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686800" y="1600200"/>
            <a:ext cx="91440" cy="123444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87968" y="1728216"/>
            <a:ext cx="256032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500" b="1">
                <a:solidFill>
                  <a:srgbClr val="FFFFFF"/>
                </a:solidFill>
                <a:latin typeface="Plus Jakarta Sans"/>
              </a:rPr>
              <a:t>Month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87968" y="2258568"/>
            <a:ext cx="256032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95000"/>
              </a:lnSpc>
              <a:spcAft>
                <a:spcPts val="600"/>
              </a:spcAft>
            </a:pPr>
            <a:r>
              <a:rPr sz="1150" b="0">
                <a:solidFill>
                  <a:srgbClr val="9FB0CC"/>
                </a:solidFill>
                <a:latin typeface="Inter"/>
              </a:rPr>
              <a:t>cash-flow break-even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87968" y="2450592"/>
            <a:ext cx="256032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50" b="1">
                <a:solidFill>
                  <a:srgbClr val="34D399"/>
                </a:solidFill>
                <a:latin typeface="Inter"/>
              </a:rPr>
              <a:t>≈ 6 clients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0" y="2971800"/>
            <a:ext cx="2834640" cy="1234440"/>
          </a:xfrm>
          <a:prstGeom prst="roundRect">
            <a:avLst/>
          </a:prstGeom>
          <a:solidFill>
            <a:srgbClr val="1B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686800" y="2971800"/>
            <a:ext cx="91440" cy="1234440"/>
          </a:xfrm>
          <a:prstGeom prst="rect">
            <a:avLst/>
          </a:prstGeom>
          <a:solidFill>
            <a:srgbClr val="4F7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87968" y="3099816"/>
            <a:ext cx="256032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500" b="1">
                <a:solidFill>
                  <a:srgbClr val="FFFFFF"/>
                </a:solidFill>
                <a:latin typeface="Plus Jakarta Sans"/>
              </a:rPr>
              <a:t>£2,090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87968" y="3630168"/>
            <a:ext cx="256032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95000"/>
              </a:lnSpc>
              <a:spcAft>
                <a:spcPts val="600"/>
              </a:spcAft>
            </a:pPr>
            <a:r>
              <a:rPr sz="1150" b="0">
                <a:solidFill>
                  <a:srgbClr val="9FB0CC"/>
                </a:solidFill>
                <a:latin typeface="Inter"/>
              </a:rPr>
              <a:t>exit MRR (month 12)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87968" y="3822191"/>
            <a:ext cx="256032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50" b="1">
                <a:solidFill>
                  <a:srgbClr val="4F7CFF"/>
                </a:solidFill>
                <a:latin typeface="Inter"/>
              </a:rPr>
              <a:t>£25k ARR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86800" y="4343400"/>
            <a:ext cx="2834640" cy="1234440"/>
          </a:xfrm>
          <a:prstGeom prst="roundRect">
            <a:avLst/>
          </a:prstGeom>
          <a:solidFill>
            <a:srgbClr val="1B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686800" y="4343400"/>
            <a:ext cx="91440" cy="123444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87968" y="4471416"/>
            <a:ext cx="256032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500" b="1">
                <a:solidFill>
                  <a:srgbClr val="FFFFFF"/>
                </a:solidFill>
                <a:latin typeface="Plus Jakarta Sans"/>
              </a:rPr>
              <a:t>£7,500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87968" y="5001768"/>
            <a:ext cx="256032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95000"/>
              </a:lnSpc>
              <a:spcAft>
                <a:spcPts val="600"/>
              </a:spcAft>
            </a:pPr>
            <a:r>
              <a:rPr sz="1150" b="0">
                <a:solidFill>
                  <a:srgbClr val="9FB0CC"/>
                </a:solidFill>
                <a:latin typeface="Inter"/>
              </a:rPr>
              <a:t>Year-1 net profit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87968" y="5193792"/>
            <a:ext cx="256032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50" b="1">
                <a:solidFill>
                  <a:srgbClr val="FBBF24"/>
                </a:solidFill>
                <a:latin typeface="Inter"/>
              </a:rPr>
              <a:t>on ~£2.8k ad spend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989320"/>
            <a:ext cx="1060704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0">
                <a:solidFill>
                  <a:srgbClr val="9FB0CC"/>
                </a:solidFill>
                <a:latin typeface="Inter"/>
              </a:rPr>
              <a:t>Assumes 3–4 new clients/mo, 3% monthly churn, ~£55 blended ARPU, £200/mo ads + £33/mo overhead.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0" y="6355080"/>
            <a:ext cx="201168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Plus Jakarta Sans"/>
              </a:rPr>
              <a:t>📞 Phone </a:t>
            </a:r>
            <a:r>
              <a:rPr sz="1200" b="1">
                <a:solidFill>
                  <a:srgbClr val="4F7CFF"/>
                </a:solidFill>
                <a:latin typeface="Plus Jakarta Sans"/>
              </a:rPr>
              <a:t>Phoebe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109728" cy="566928"/>
          </a:xfrm>
          <a:prstGeom prst="rect">
            <a:avLst/>
          </a:prstGeom>
          <a:solidFill>
            <a:srgbClr val="4F7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100584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1">
                <a:solidFill>
                  <a:srgbClr val="4F7CFF"/>
                </a:solidFill>
                <a:latin typeface="Plus Jakarta Sans"/>
              </a:rPr>
              <a:t>MARKET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786384"/>
            <a:ext cx="10607040" cy="7315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700" b="1">
                <a:solidFill>
                  <a:srgbClr val="FFFFFF"/>
                </a:solidFill>
                <a:latin typeface="Plus Jakarta Sans"/>
              </a:rPr>
              <a:t>The driving-instructor niche alone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566928"/>
            <a:ext cx="64008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6B7A99"/>
                </a:solidFill>
                <a:latin typeface="Plus Jakarta Sans"/>
              </a:rPr>
              <a:t>08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1335024"/>
            <a:ext cx="10634472" cy="18288"/>
          </a:xfrm>
          <a:prstGeom prst="rect">
            <a:avLst/>
          </a:prstGeom>
          <a:solidFill>
            <a:srgbClr val="1B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77240" y="1600200"/>
            <a:ext cx="3246120" cy="1371600"/>
          </a:xfrm>
          <a:prstGeom prst="roundRect">
            <a:avLst/>
          </a:prstGeom>
          <a:solidFill>
            <a:srgbClr val="1B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600200"/>
            <a:ext cx="91440" cy="1371600"/>
          </a:xfrm>
          <a:prstGeom prst="rect">
            <a:avLst/>
          </a:prstGeom>
          <a:solidFill>
            <a:srgbClr val="4F7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8408" y="1728216"/>
            <a:ext cx="297180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500" b="1">
                <a:solidFill>
                  <a:srgbClr val="FFFFFF"/>
                </a:solidFill>
                <a:latin typeface="Plus Jakarta Sans"/>
              </a:rPr>
              <a:t>39,195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2258568"/>
            <a:ext cx="297180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95000"/>
              </a:lnSpc>
              <a:spcAft>
                <a:spcPts val="600"/>
              </a:spcAft>
            </a:pPr>
            <a:r>
              <a:rPr sz="1150" b="0">
                <a:solidFill>
                  <a:srgbClr val="9FB0CC"/>
                </a:solidFill>
                <a:latin typeface="Inter"/>
              </a:rPr>
              <a:t>UK Approved Driving Instructors (DVSA register)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154680"/>
            <a:ext cx="3246120" cy="1371600"/>
          </a:xfrm>
          <a:prstGeom prst="roundRect">
            <a:avLst/>
          </a:prstGeom>
          <a:solidFill>
            <a:srgbClr val="1B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154680"/>
            <a:ext cx="91440" cy="13716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8408" y="3282696"/>
            <a:ext cx="297180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500" b="1">
                <a:solidFill>
                  <a:srgbClr val="FFFFFF"/>
                </a:solidFill>
                <a:latin typeface="Plus Jakarta Sans"/>
              </a:rPr>
              <a:t>£55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8408" y="3813048"/>
            <a:ext cx="297180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95000"/>
              </a:lnSpc>
              <a:spcAft>
                <a:spcPts val="600"/>
              </a:spcAft>
            </a:pPr>
            <a:r>
              <a:rPr sz="1150" b="0">
                <a:solidFill>
                  <a:srgbClr val="9FB0CC"/>
                </a:solidFill>
                <a:latin typeface="Inter"/>
              </a:rPr>
              <a:t>blended ARPU per client / month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4709160"/>
            <a:ext cx="3246120" cy="1371600"/>
          </a:xfrm>
          <a:prstGeom prst="roundRect">
            <a:avLst/>
          </a:prstGeom>
          <a:solidFill>
            <a:srgbClr val="1B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709160"/>
            <a:ext cx="91440" cy="137160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8408" y="4837176"/>
            <a:ext cx="297180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500" b="1">
                <a:solidFill>
                  <a:srgbClr val="FFFFFF"/>
                </a:solidFill>
                <a:latin typeface="Plus Jakarta Sans"/>
              </a:rPr>
              <a:t>1 vertical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8408" y="5367528"/>
            <a:ext cx="297180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95000"/>
              </a:lnSpc>
              <a:spcAft>
                <a:spcPts val="600"/>
              </a:spcAft>
            </a:pPr>
            <a:r>
              <a:rPr sz="1150" b="0">
                <a:solidFill>
                  <a:srgbClr val="9FB0CC"/>
                </a:solidFill>
                <a:latin typeface="Inter"/>
              </a:rPr>
              <a:t>before salons, dentists, trades, clinics…</a:t>
            </a:r>
          </a:p>
        </p:txBody>
      </p:sp>
      <p:graphicFrame>
        <p:nvGraphicFramePr>
          <p:cNvPr id="20" name="Chart 19"/>
          <p:cNvGraphicFramePr>
            <a:graphicFrameLocks noGrp="1"/>
          </p:cNvGraphicFramePr>
          <p:nvPr/>
        </p:nvGraphicFramePr>
        <p:xfrm>
          <a:off x="4389120" y="1600200"/>
          <a:ext cx="717804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4389120" y="5806440"/>
            <a:ext cx="717804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50" b="0">
                <a:solidFill>
                  <a:srgbClr val="9FB0CC"/>
                </a:solidFill>
                <a:latin typeface="Inter"/>
              </a:rPr>
              <a:t>ARR at each penetration level. </a:t>
            </a:r>
            <a:r>
              <a:rPr sz="1150" b="1">
                <a:solidFill>
                  <a:srgbClr val="FBBF24"/>
                </a:solidFill>
                <a:latin typeface="Inter"/>
              </a:rPr>
              <a:t>Just 1% of one niche = £259k ARR.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0" y="6355080"/>
            <a:ext cx="201168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Plus Jakarta Sans"/>
              </a:rPr>
              <a:t>📞 Phone </a:t>
            </a:r>
            <a:r>
              <a:rPr sz="1200" b="1">
                <a:solidFill>
                  <a:srgbClr val="4F7CFF"/>
                </a:solidFill>
                <a:latin typeface="Plus Jakarta Sans"/>
              </a:rPr>
              <a:t>Phoebe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109728" cy="566928"/>
          </a:xfrm>
          <a:prstGeom prst="rect">
            <a:avLst/>
          </a:prstGeom>
          <a:solidFill>
            <a:srgbClr val="4F7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100584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1">
                <a:solidFill>
                  <a:srgbClr val="4F7CFF"/>
                </a:solidFill>
                <a:latin typeface="Plus Jakarta Sans"/>
              </a:rPr>
              <a:t>OUTLOOK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786384"/>
            <a:ext cx="10607040" cy="7315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700" b="1">
                <a:solidFill>
                  <a:srgbClr val="FFFFFF"/>
                </a:solidFill>
                <a:latin typeface="Plus Jakarta Sans"/>
              </a:rPr>
              <a:t>Year 2 scenarios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566928"/>
            <a:ext cx="64008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6B7A99"/>
                </a:solidFill>
                <a:latin typeface="Plus Jakarta Sans"/>
              </a:rPr>
              <a:t>09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1335024"/>
            <a:ext cx="10634472" cy="18288"/>
          </a:xfrm>
          <a:prstGeom prst="rect">
            <a:avLst/>
          </a:prstGeom>
          <a:solidFill>
            <a:srgbClr val="1B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777240" y="1600200"/>
          <a:ext cx="7040880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8046720" y="1645920"/>
            <a:ext cx="3474720" cy="1280160"/>
          </a:xfrm>
          <a:prstGeom prst="roundRect">
            <a:avLst/>
          </a:prstGeom>
          <a:solidFill>
            <a:srgbClr val="1B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46720" y="1645920"/>
            <a:ext cx="91440" cy="1280160"/>
          </a:xfrm>
          <a:prstGeom prst="rect">
            <a:avLst/>
          </a:prstGeom>
          <a:solidFill>
            <a:srgbClr val="4F7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1764792"/>
            <a:ext cx="310896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Plus Jakarta Sans"/>
              </a:rPr>
              <a:t>Conservative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2148840"/>
            <a:ext cx="310896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9FB0CC"/>
                </a:solidFill>
                <a:latin typeface="Inter"/>
              </a:rPr>
              <a:t>80 clients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2468880"/>
            <a:ext cx="310896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>
                <a:solidFill>
                  <a:srgbClr val="4F7CFF"/>
                </a:solidFill>
                <a:latin typeface="Plus Jakarta Sans"/>
              </a:rPr>
              <a:t>£52.8k ARR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3063240"/>
            <a:ext cx="3474720" cy="1280160"/>
          </a:xfrm>
          <a:prstGeom prst="roundRect">
            <a:avLst/>
          </a:prstGeom>
          <a:solidFill>
            <a:srgbClr val="1B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3063240"/>
            <a:ext cx="91440" cy="128016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3182112"/>
            <a:ext cx="310896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Plus Jakarta Sans"/>
              </a:rPr>
              <a:t>Base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3566160"/>
            <a:ext cx="310896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9FB0CC"/>
                </a:solidFill>
                <a:latin typeface="Inter"/>
              </a:rPr>
              <a:t>130 clients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3886200"/>
            <a:ext cx="310896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>
                <a:solidFill>
                  <a:srgbClr val="8B5CF6"/>
                </a:solidFill>
                <a:latin typeface="Plus Jakarta Sans"/>
              </a:rPr>
              <a:t>£85.8k ARR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46720" y="4480560"/>
            <a:ext cx="3474720" cy="1280160"/>
          </a:xfrm>
          <a:prstGeom prst="roundRect">
            <a:avLst/>
          </a:prstGeom>
          <a:solidFill>
            <a:srgbClr val="1B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46720" y="4480560"/>
            <a:ext cx="91440" cy="128016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0" y="4599432"/>
            <a:ext cx="310896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Plus Jakarta Sans"/>
              </a:rPr>
              <a:t>Optimistic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4983480"/>
            <a:ext cx="310896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9FB0CC"/>
                </a:solidFill>
                <a:latin typeface="Inter"/>
              </a:rPr>
              <a:t>220 clients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5303520"/>
            <a:ext cx="310896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>
                <a:solidFill>
                  <a:srgbClr val="FBBF24"/>
                </a:solidFill>
                <a:latin typeface="Plus Jakarta Sans"/>
              </a:rPr>
              <a:t>£145k ARR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0" y="6355080"/>
            <a:ext cx="201168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Plus Jakarta Sans"/>
              </a:rPr>
              <a:t>📞 Phone </a:t>
            </a:r>
            <a:r>
              <a:rPr sz="1200" b="1">
                <a:solidFill>
                  <a:srgbClr val="4F7CFF"/>
                </a:solidFill>
                <a:latin typeface="Plus Jakarta Sans"/>
              </a:rPr>
              <a:t>Phoebe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109728" cy="566928"/>
          </a:xfrm>
          <a:prstGeom prst="rect">
            <a:avLst/>
          </a:prstGeom>
          <a:solidFill>
            <a:srgbClr val="4F7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100584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1">
                <a:solidFill>
                  <a:srgbClr val="4F7CFF"/>
                </a:solidFill>
                <a:latin typeface="Plus Jakarta Sans"/>
              </a:rPr>
              <a:t>VALIDATE FIRST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786384"/>
            <a:ext cx="10607040" cy="7315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700" b="1">
                <a:solidFill>
                  <a:srgbClr val="FFFFFF"/>
                </a:solidFill>
                <a:latin typeface="Plus Jakarta Sans"/>
              </a:rPr>
              <a:t>The assumptions the model rests 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566928"/>
            <a:ext cx="64008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6B7A99"/>
                </a:solidFill>
                <a:latin typeface="Plus Jakarta Sans"/>
              </a:rPr>
              <a:t>10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1335024"/>
            <a:ext cx="10634472" cy="18288"/>
          </a:xfrm>
          <a:prstGeom prst="rect">
            <a:avLst/>
          </a:prstGeom>
          <a:solidFill>
            <a:srgbClr val="1B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77240" y="1572768"/>
            <a:ext cx="10652760" cy="841248"/>
          </a:xfrm>
          <a:prstGeom prst="roundRect">
            <a:avLst/>
          </a:prstGeom>
          <a:solidFill>
            <a:srgbClr val="1B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572768"/>
            <a:ext cx="91440" cy="841248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664208"/>
            <a:ext cx="3200400" cy="6400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Plus Jakarta Sans"/>
              </a:rPr>
              <a:t>ElevenLabs voice strategy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1664208"/>
            <a:ext cx="7178040" cy="67665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50" b="0">
                <a:solidFill>
                  <a:srgbClr val="9FB0CC"/>
                </a:solidFill>
                <a:latin typeface="Inter"/>
              </a:rPr>
              <a:t>Shared standard voices = ~£14/client. Per-client clones add £18+/mo each and crush Basic margin.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2532888"/>
            <a:ext cx="10652760" cy="841248"/>
          </a:xfrm>
          <a:prstGeom prst="roundRect">
            <a:avLst/>
          </a:prstGeom>
          <a:solidFill>
            <a:srgbClr val="1B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2532888"/>
            <a:ext cx="91440" cy="841248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2624328"/>
            <a:ext cx="3200400" cy="6400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Plus Jakarta Sans"/>
              </a:rPr>
              <a:t>Average call duration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2624328"/>
            <a:ext cx="7178040" cy="67665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50" b="0">
                <a:solidFill>
                  <a:srgbClr val="9FB0CC"/>
                </a:solidFill>
                <a:latin typeface="Inter"/>
              </a:rPr>
              <a:t>Modelled at 3 min. Longer calls (reschedules, complex Q&amp;A) lift COGS — watch the Vapi dashboard.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3493008"/>
            <a:ext cx="10652760" cy="841248"/>
          </a:xfrm>
          <a:prstGeom prst="roundRect">
            <a:avLst/>
          </a:prstGeom>
          <a:solidFill>
            <a:srgbClr val="1B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3493008"/>
            <a:ext cx="91440" cy="841248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3584448"/>
            <a:ext cx="3200400" cy="6400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Plus Jakarta Sans"/>
              </a:rPr>
              <a:t>Trial → paid rate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0" y="3584448"/>
            <a:ext cx="7178040" cy="67665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50" b="0">
                <a:solidFill>
                  <a:srgbClr val="9FB0CC"/>
                </a:solidFill>
                <a:latin typeface="Inter"/>
              </a:rPr>
              <a:t>Target 25%. Model at 15% until proven; that pushes break-even from Month 2 to ~Month 4.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4453128"/>
            <a:ext cx="10652760" cy="841248"/>
          </a:xfrm>
          <a:prstGeom prst="roundRect">
            <a:avLst/>
          </a:prstGeom>
          <a:solidFill>
            <a:srgbClr val="1B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77240" y="4453128"/>
            <a:ext cx="91440" cy="841248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4544568"/>
            <a:ext cx="3200400" cy="6400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Plus Jakarta Sans"/>
              </a:rPr>
              <a:t>Churn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0" y="4544568"/>
            <a:ext cx="7178040" cy="67665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50" b="0">
                <a:solidFill>
                  <a:srgbClr val="9FB0CC"/>
                </a:solidFill>
                <a:latin typeface="Inter"/>
              </a:rPr>
              <a:t>3% assumed. Early months may run 5–8% before clients hear Phoebe answer a real call.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" y="5413248"/>
            <a:ext cx="10652760" cy="841248"/>
          </a:xfrm>
          <a:prstGeom prst="roundRect">
            <a:avLst/>
          </a:prstGeom>
          <a:solidFill>
            <a:srgbClr val="1B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77240" y="5413248"/>
            <a:ext cx="91440" cy="841248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5840" y="5504688"/>
            <a:ext cx="3200400" cy="6400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Plus Jakarta Sans"/>
              </a:rPr>
              <a:t>Cal.com architecture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0" y="5504688"/>
            <a:ext cx="7178040" cy="67665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50" b="0">
                <a:solidFill>
                  <a:srgbClr val="9FB0CC"/>
                </a:solidFill>
                <a:latin typeface="Inter"/>
              </a:rPr>
              <a:t>Keep per-client free accounts (£0). Central Platform API is $299/mo and breaks the model.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0" y="6355080"/>
            <a:ext cx="201168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Plus Jakarta Sans"/>
              </a:rPr>
              <a:t>📞 Phone </a:t>
            </a:r>
            <a:r>
              <a:rPr sz="1200" b="1">
                <a:solidFill>
                  <a:srgbClr val="4F7CFF"/>
                </a:solidFill>
                <a:latin typeface="Plus Jakarta Sans"/>
              </a:rPr>
              <a:t>Phoebe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gradFill>
            <a:gsLst>
              <a:gs pos="0">
                <a:srgbClr val="0B1020"/>
              </a:gs>
              <a:gs pos="100000">
                <a:srgbClr val="1E1B4B"/>
              </a:gs>
            </a:gsLst>
            <a:lin ang="3600000" scaled="1"/>
          </a:gradFill>
          <a:xfrm>
            <a:off x="0" y="0"/>
            <a:ext cx="12191695" cy="6858000"/>
          </a:xfrm>
          <a:prstGeom prst="rect">
            <a:avLst/>
          </a:prstGeom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566928"/>
            <a:ext cx="109728" cy="566928"/>
          </a:xfrm>
          <a:prstGeom prst="rect">
            <a:avLst/>
          </a:prstGeom>
          <a:solidFill>
            <a:srgbClr val="4F7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502920"/>
            <a:ext cx="100584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1">
                <a:solidFill>
                  <a:srgbClr val="4F7CFF"/>
                </a:solidFill>
                <a:latin typeface="Plus Jakarta Sans"/>
              </a:rPr>
              <a:t>NEXT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" y="786384"/>
            <a:ext cx="10607040" cy="7315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700" b="1">
                <a:solidFill>
                  <a:srgbClr val="FFFFFF"/>
                </a:solidFill>
                <a:latin typeface="Plus Jakarta Sans"/>
              </a:rPr>
              <a:t>Make the numbers bulletproof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566928"/>
            <a:ext cx="64008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6B7A99"/>
                </a:solidFill>
                <a:latin typeface="Plus Jakarta Sans"/>
              </a:rPr>
              <a:t>11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1335024"/>
            <a:ext cx="10634472" cy="18288"/>
          </a:xfrm>
          <a:prstGeom prst="rect">
            <a:avLst/>
          </a:prstGeom>
          <a:solidFill>
            <a:srgbClr val="1B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77240" y="1554480"/>
            <a:ext cx="10652760" cy="731520"/>
          </a:xfrm>
          <a:prstGeom prst="roundRect">
            <a:avLst/>
          </a:prstGeom>
          <a:solidFill>
            <a:srgbClr val="1B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14400" y="1691639"/>
            <a:ext cx="457200" cy="457200"/>
          </a:xfrm>
          <a:prstGeom prst="roundRect">
            <a:avLst/>
          </a:prstGeom>
          <a:solidFill>
            <a:srgbClr val="4F7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673352"/>
            <a:ext cx="457200" cy="4572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Plus Jakarta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1636776"/>
            <a:ext cx="4206240" cy="5943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Plus Jakarta Sans"/>
              </a:rPr>
              <a:t>Add fair-use caps to T&amp;Cs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0" y="1636776"/>
            <a:ext cx="5486400" cy="5943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50" b="0">
                <a:solidFill>
                  <a:srgbClr val="9FB0CC"/>
                </a:solidFill>
                <a:latin typeface="Inter"/>
              </a:rPr>
              <a:t>Protects against loss-making heavy users — the one structural risk.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2395728"/>
            <a:ext cx="10652760" cy="731520"/>
          </a:xfrm>
          <a:prstGeom prst="roundRect">
            <a:avLst/>
          </a:prstGeom>
          <a:solidFill>
            <a:srgbClr val="1B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14400" y="2532888"/>
            <a:ext cx="457200" cy="457200"/>
          </a:xfrm>
          <a:prstGeom prst="roundRect">
            <a:avLst/>
          </a:prstGeom>
          <a:solidFill>
            <a:srgbClr val="4F7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2514600"/>
            <a:ext cx="457200" cy="4572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Plus Jakarta San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2478024"/>
            <a:ext cx="4206240" cy="5943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Plus Jakarta Sans"/>
              </a:rPr>
              <a:t>One shared ElevenLabs Creator plan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52160" y="2478024"/>
            <a:ext cx="5486400" cy="5943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50" b="0">
                <a:solidFill>
                  <a:srgbClr val="9FB0CC"/>
                </a:solidFill>
                <a:latin typeface="Inter"/>
              </a:rPr>
              <a:t>Standard voices pooled across clients keeps per-client cost ~£14.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3236976"/>
            <a:ext cx="10652760" cy="731520"/>
          </a:xfrm>
          <a:prstGeom prst="roundRect">
            <a:avLst/>
          </a:prstGeom>
          <a:solidFill>
            <a:srgbClr val="1B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14400" y="3374136"/>
            <a:ext cx="457200" cy="457200"/>
          </a:xfrm>
          <a:prstGeom prst="roundRect">
            <a:avLst/>
          </a:prstGeom>
          <a:solidFill>
            <a:srgbClr val="4F7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3355848"/>
            <a:ext cx="457200" cy="4572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Plus Jakarta Sans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00200" y="3319272"/>
            <a:ext cx="4206240" cy="5943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Plus Jakarta Sans"/>
              </a:rPr>
              <a:t>Deploy server to Railway ($5/mo)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52160" y="3319272"/>
            <a:ext cx="5486400" cy="5943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50" b="0">
                <a:solidFill>
                  <a:srgbClr val="9FB0CC"/>
                </a:solidFill>
                <a:latin typeface="Inter"/>
              </a:rPr>
              <a:t>Kills the ngrok dependency; cost spreads across all clients.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" y="4078224"/>
            <a:ext cx="10652760" cy="731520"/>
          </a:xfrm>
          <a:prstGeom prst="roundRect">
            <a:avLst/>
          </a:prstGeom>
          <a:solidFill>
            <a:srgbClr val="1B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14400" y="4215384"/>
            <a:ext cx="457200" cy="457200"/>
          </a:xfrm>
          <a:prstGeom prst="roundRect">
            <a:avLst/>
          </a:prstGeom>
          <a:solidFill>
            <a:srgbClr val="4F7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4197096"/>
            <a:ext cx="457200" cy="4572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Plus Jakarta Sans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00200" y="4160520"/>
            <a:ext cx="4206240" cy="5943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Plus Jakarta Sans"/>
              </a:rPr>
              <a:t>Install Meta Pixel before ad spend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52160" y="4160520"/>
            <a:ext cx="5486400" cy="5943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50" b="0">
                <a:solidFill>
                  <a:srgbClr val="9FB0CC"/>
                </a:solidFill>
                <a:latin typeface="Inter"/>
              </a:rPr>
              <a:t>Every visitor becomes retargeting inventory.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77240" y="4919472"/>
            <a:ext cx="10652760" cy="731520"/>
          </a:xfrm>
          <a:prstGeom prst="roundRect">
            <a:avLst/>
          </a:prstGeom>
          <a:solidFill>
            <a:srgbClr val="1B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914400" y="5056632"/>
            <a:ext cx="457200" cy="457200"/>
          </a:xfrm>
          <a:prstGeom prst="roundRect">
            <a:avLst/>
          </a:prstGeom>
          <a:solidFill>
            <a:srgbClr val="4F7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" y="5038344"/>
            <a:ext cx="457200" cy="4572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Plus Jakarta Sans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600200" y="5001768"/>
            <a:ext cx="4206240" cy="5943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Plus Jakarta Sans"/>
              </a:rPr>
              <a:t>Build the Tally/Typeform signup flow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52160" y="5001768"/>
            <a:ext cx="5486400" cy="5943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50" b="0">
                <a:solidFill>
                  <a:srgbClr val="9FB0CC"/>
                </a:solidFill>
                <a:latin typeface="Inter"/>
              </a:rPr>
              <a:t>Today there is no way for a website visitor to actually convert.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77240" y="5760720"/>
            <a:ext cx="10652760" cy="731520"/>
          </a:xfrm>
          <a:prstGeom prst="roundRect">
            <a:avLst/>
          </a:prstGeom>
          <a:solidFill>
            <a:srgbClr val="1B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914400" y="5897880"/>
            <a:ext cx="457200" cy="457200"/>
          </a:xfrm>
          <a:prstGeom prst="roundRect">
            <a:avLst/>
          </a:prstGeom>
          <a:solidFill>
            <a:srgbClr val="4F7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4400" y="5879592"/>
            <a:ext cx="457200" cy="4572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Plus Jakarta Sans"/>
              </a:rPr>
              <a:t>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600200" y="5843016"/>
            <a:ext cx="4206240" cy="5943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Plus Jakarta Sans"/>
              </a:rPr>
              <a:t>Track per-client minutes in Vapi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52160" y="5843016"/>
            <a:ext cx="5486400" cy="5943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50" b="0">
                <a:solidFill>
                  <a:srgbClr val="9FB0CC"/>
                </a:solidFill>
                <a:latin typeface="Inter"/>
              </a:rPr>
              <a:t>Catch any loss-making outlier client early.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7240" y="6400800"/>
            <a:ext cx="1060704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1">
                <a:solidFill>
                  <a:srgbClr val="FBBF24"/>
                </a:solidFill>
                <a:latin typeface="Inter"/>
              </a:rPr>
              <a:t>Bottom line: </a:t>
            </a:r>
            <a:r>
              <a:rPr sz="1250" b="0">
                <a:solidFill>
                  <a:srgbClr val="FFFFFF"/>
                </a:solidFill>
                <a:latin typeface="Inter"/>
              </a:rPr>
              <a:t>64–88% margins, 17x+ LTV:CAC, break-even at 6 clients. Fix the unlimited-minutes clause and the model holds.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